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chemeClr val="bg1"/>
                </a:solidFill>
              </a:rPr>
              <a:t>Context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Jakarta EE Mini-Project </a:t>
            </a:r>
            <a:r>
              <a:rPr lang="fr-CH" sz="1400" dirty="0">
                <a:solidFill>
                  <a:schemeClr val="bg1"/>
                </a:solidFill>
              </a:rPr>
              <a:t>-</a:t>
            </a:r>
            <a:r>
              <a:rPr sz="1400" b="0" dirty="0">
                <a:solidFill>
                  <a:schemeClr val="bg1"/>
                </a:solidFill>
              </a:rPr>
              <a:t> Series </a:t>
            </a:r>
            <a:r>
              <a:rPr lang="fr-CH" sz="1400" b="0" dirty="0">
                <a:solidFill>
                  <a:schemeClr val="bg1"/>
                </a:solidFill>
              </a:rPr>
              <a:t>a</a:t>
            </a:r>
            <a:r>
              <a:rPr sz="1400" b="0" dirty="0" err="1">
                <a:solidFill>
                  <a:schemeClr val="bg1"/>
                </a:solidFill>
              </a:rPr>
              <a:t>pplication</a:t>
            </a:r>
            <a:endParaRPr sz="1400" b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23774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</a:rPr>
              <a:t>Project</a:t>
            </a:r>
            <a:endParaRPr sz="15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Web app to track TV series watching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Users can browse series, mark episodes as watched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Viewers can write and read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Admins can add series</a:t>
            </a:r>
            <a:r>
              <a:rPr lang="fr-CH" sz="1400" b="0" dirty="0">
                <a:solidFill>
                  <a:schemeClr val="bg1"/>
                </a:solidFill>
              </a:rPr>
              <a:t>, </a:t>
            </a:r>
            <a:r>
              <a:rPr lang="fr-CH" sz="1400" b="0" dirty="0" err="1">
                <a:solidFill>
                  <a:schemeClr val="bg1"/>
                </a:solidFill>
              </a:rPr>
              <a:t>season</a:t>
            </a:r>
            <a:r>
              <a:rPr lang="fr-CH" sz="1400" b="0" dirty="0">
                <a:solidFill>
                  <a:schemeClr val="bg1"/>
                </a:solidFill>
              </a:rPr>
              <a:t> and </a:t>
            </a:r>
            <a:r>
              <a:rPr lang="fr-CH" sz="1400" b="0" dirty="0" err="1">
                <a:solidFill>
                  <a:schemeClr val="bg1"/>
                </a:solidFill>
              </a:rPr>
              <a:t>episodes</a:t>
            </a:r>
            <a:r>
              <a:rPr lang="fr-CH" sz="1400" b="0" dirty="0">
                <a:solidFill>
                  <a:schemeClr val="bg1"/>
                </a:solidFill>
              </a:rPr>
              <a:t> and </a:t>
            </a:r>
            <a:r>
              <a:rPr lang="fr-CH" sz="1400" b="0" dirty="0" err="1">
                <a:solidFill>
                  <a:schemeClr val="bg1"/>
                </a:solidFill>
              </a:rPr>
              <a:t>delete</a:t>
            </a:r>
            <a:r>
              <a:rPr lang="fr-CH" sz="1400" dirty="0">
                <a:solidFill>
                  <a:schemeClr val="bg1"/>
                </a:solidFill>
              </a:rPr>
              <a:t> </a:t>
            </a:r>
            <a:r>
              <a:rPr lang="fr-CH" sz="1400" dirty="0" err="1">
                <a:solidFill>
                  <a:schemeClr val="bg1"/>
                </a:solidFill>
              </a:rPr>
              <a:t>series</a:t>
            </a:r>
            <a:r>
              <a:rPr lang="fr-CH" sz="1400" b="0" dirty="0">
                <a:solidFill>
                  <a:schemeClr val="bg1"/>
                </a:solidFill>
              </a:rPr>
              <a:t> </a:t>
            </a:r>
            <a:endParaRPr sz="1400" b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669280" cy="23774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chemeClr val="bg1"/>
                </a:solidFill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 Jakarta EE 10  —  application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JPA / Hibernate  —  database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31136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JSF + </a:t>
            </a:r>
            <a:r>
              <a:rPr sz="1400" b="0" dirty="0" err="1">
                <a:solidFill>
                  <a:schemeClr val="bg1"/>
                </a:solidFill>
              </a:rPr>
              <a:t>Facelets</a:t>
            </a:r>
            <a:r>
              <a:rPr sz="1400" b="0" dirty="0">
                <a:solidFill>
                  <a:schemeClr val="bg1"/>
                </a:solidFill>
              </a:rPr>
              <a:t>  —  web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CDI  —  dependency injection &amp; scopes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16352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Bootstrap  —  responsive 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11430000" cy="256032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</a:rPr>
              <a:t>Key Features 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Account management (register, login, logout, role-based access)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98848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Series / Season / Episode catalog with admin 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91455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Episode progress tracking with automatic series status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84064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H" sz="1400" b="0" dirty="0">
                <a:solidFill>
                  <a:schemeClr val="bg1"/>
                </a:solidFill>
              </a:rPr>
              <a:t>- </a:t>
            </a:r>
            <a:r>
              <a:rPr sz="1400" b="0" dirty="0">
                <a:solidFill>
                  <a:schemeClr val="bg1"/>
                </a:solidFill>
              </a:rPr>
              <a:t> Review system (add or update rating + comment per series)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</a:rPr>
              <a:t>CDI Scopes — Applied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Every bean's scope chosen based on its state and lifetime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56616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</a:rPr>
              <a:t>@RequestScoped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0979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AccountBean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57011"/>
            <a:ext cx="3200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Holds username/password for login &amp; register forms. Sensitive data — must die after one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8299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ReviewBean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744331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Submits a rating + comment. One action, nothing to preserve.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82498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SeasonBean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53853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Displays season detail. Data reloaded from DB each visit.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7025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ProgressBean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42628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Marks episode watched. Single click = single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56616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11887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</a:rPr>
              <a:t>@SessionScoped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55566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SeriesBean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0560" y="1811696"/>
            <a:ext cx="3200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Stores </a:t>
            </a:r>
            <a:r>
              <a:rPr sz="1400" b="0" dirty="0" err="1">
                <a:solidFill>
                  <a:schemeClr val="bg1"/>
                </a:solidFill>
              </a:rPr>
              <a:t>searchQuery</a:t>
            </a:r>
            <a:r>
              <a:rPr sz="1400" b="0" dirty="0">
                <a:solidFill>
                  <a:schemeClr val="bg1"/>
                </a:solidFill>
              </a:rPr>
              <a:t> + </a:t>
            </a:r>
            <a:r>
              <a:rPr sz="1400" b="0" dirty="0" err="1">
                <a:solidFill>
                  <a:schemeClr val="bg1"/>
                </a:solidFill>
              </a:rPr>
              <a:t>selectedSeriesId</a:t>
            </a:r>
            <a:r>
              <a:rPr sz="1400" b="0" dirty="0">
                <a:solidFill>
                  <a:schemeClr val="bg1"/>
                </a:solidFill>
              </a:rPr>
              <a:t>. User navigates list → detail → back. State must survive navigation.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4517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AccountService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560" y="2801203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Stores </a:t>
            </a:r>
            <a:r>
              <a:rPr sz="1400" b="0" dirty="0" err="1">
                <a:solidFill>
                  <a:schemeClr val="bg1"/>
                </a:solidFill>
              </a:rPr>
              <a:t>loggedAccount</a:t>
            </a:r>
            <a:r>
              <a:rPr sz="1400" b="0" dirty="0">
                <a:solidFill>
                  <a:schemeClr val="bg1"/>
                </a:solidFill>
              </a:rPr>
              <a:t>. Every page needs to know who is connected.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143000"/>
            <a:ext cx="356616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11887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</a:rPr>
              <a:t>@ApplicationScoped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54634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SeriesService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1802373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No user state. Only DB queries. One shared instance for all users.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8361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ReviewService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0" y="253964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Stateless. Methods take all needed data as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</a:rPr>
              <a:t>@Transactional — Rule &amp; Key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All-or-nothing: if one operation fails, everything rolls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029200" cy="301752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</a:rPr>
              <a:t>When to use @Transactional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✅  Multiple linked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✅  Lazy loading inside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94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✅  SELECT + conditional persist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❌  Simple SELECT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443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❌  Pure logic, no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143000"/>
            <a:ext cx="603504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0" y="1188720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</a:rPr>
              <a:t>Key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554480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</a:rPr>
              <a:t>register()  —  </a:t>
            </a:r>
            <a:r>
              <a:rPr sz="1400" b="1" dirty="0" err="1">
                <a:solidFill>
                  <a:schemeClr val="bg1"/>
                </a:solidFill>
              </a:rPr>
              <a:t>AccountService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0" y="1810512"/>
            <a:ext cx="557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SELECT (check username) + </a:t>
            </a:r>
            <a:r>
              <a:rPr sz="1400" b="0" dirty="0" err="1">
                <a:solidFill>
                  <a:schemeClr val="bg1"/>
                </a:solidFill>
              </a:rPr>
              <a:t>em.persist</a:t>
            </a:r>
            <a:r>
              <a:rPr sz="1400" b="0" dirty="0">
                <a:solidFill>
                  <a:schemeClr val="bg1"/>
                </a:solidFill>
              </a:rPr>
              <a:t>(). If persist fails, transaction cancels the check. Prevents partial account creation.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77440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findById</a:t>
            </a:r>
            <a:r>
              <a:rPr sz="1400" b="1" dirty="0">
                <a:solidFill>
                  <a:schemeClr val="bg1"/>
                </a:solidFill>
              </a:rPr>
              <a:t>()  —  </a:t>
            </a:r>
            <a:r>
              <a:rPr sz="1400" b="1" dirty="0" err="1">
                <a:solidFill>
                  <a:schemeClr val="bg1"/>
                </a:solidFill>
              </a:rPr>
              <a:t>SeriesService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0" y="2633472"/>
            <a:ext cx="557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Calls .</a:t>
            </a:r>
            <a:r>
              <a:rPr sz="1400" b="0" dirty="0" err="1">
                <a:solidFill>
                  <a:schemeClr val="bg1"/>
                </a:solidFill>
              </a:rPr>
              <a:t>getSeasons</a:t>
            </a:r>
            <a:r>
              <a:rPr sz="1400" b="0" dirty="0">
                <a:solidFill>
                  <a:schemeClr val="bg1"/>
                </a:solidFill>
              </a:rPr>
              <a:t>().size(), .</a:t>
            </a:r>
            <a:r>
              <a:rPr sz="1400" b="0" dirty="0" err="1">
                <a:solidFill>
                  <a:schemeClr val="bg1"/>
                </a:solidFill>
              </a:rPr>
              <a:t>getEpisodes</a:t>
            </a:r>
            <a:r>
              <a:rPr sz="1400" b="0" dirty="0">
                <a:solidFill>
                  <a:schemeClr val="bg1"/>
                </a:solidFill>
              </a:rPr>
              <a:t>().size(), .</a:t>
            </a:r>
            <a:r>
              <a:rPr sz="1400" b="0" dirty="0" err="1">
                <a:solidFill>
                  <a:schemeClr val="bg1"/>
                </a:solidFill>
              </a:rPr>
              <a:t>getReviews</a:t>
            </a:r>
            <a:r>
              <a:rPr sz="1400" b="0" dirty="0">
                <a:solidFill>
                  <a:schemeClr val="bg1"/>
                </a:solidFill>
              </a:rPr>
              <a:t>().size()</a:t>
            </a:r>
            <a:r>
              <a:rPr lang="fr-CH" sz="1400" b="0">
                <a:solidFill>
                  <a:schemeClr val="bg1"/>
                </a:solidFill>
              </a:rPr>
              <a:t>, </a:t>
            </a:r>
            <a:r>
              <a:rPr sz="1400" b="0">
                <a:solidFill>
                  <a:schemeClr val="bg1"/>
                </a:solidFill>
              </a:rPr>
              <a:t>lazy </a:t>
            </a:r>
            <a:r>
              <a:rPr sz="1400" b="0" dirty="0">
                <a:solidFill>
                  <a:schemeClr val="bg1"/>
                </a:solidFill>
              </a:rPr>
              <a:t>collections. Without open transaction → </a:t>
            </a:r>
            <a:r>
              <a:rPr sz="1400" b="0" dirty="0" err="1">
                <a:solidFill>
                  <a:schemeClr val="bg1"/>
                </a:solidFill>
              </a:rPr>
              <a:t>LazyInitializationException</a:t>
            </a:r>
            <a:r>
              <a:rPr sz="1400" b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addReview</a:t>
            </a:r>
            <a:r>
              <a:rPr sz="1400" b="1" dirty="0">
                <a:solidFill>
                  <a:schemeClr val="bg1"/>
                </a:solidFill>
              </a:rPr>
              <a:t>()  —  </a:t>
            </a:r>
            <a:r>
              <a:rPr sz="1400" b="1" dirty="0" err="1">
                <a:solidFill>
                  <a:schemeClr val="bg1"/>
                </a:solidFill>
              </a:rPr>
              <a:t>ReviewServic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0" y="3456432"/>
            <a:ext cx="557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2x em.merge() + em.persist() or em.merge(). Three linked ops. If final persist fails, the two merges must be cancelled.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23360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</a:rPr>
              <a:t>markEpisodeWatched</a:t>
            </a:r>
            <a:r>
              <a:rPr sz="1400" b="1" dirty="0">
                <a:solidFill>
                  <a:schemeClr val="bg1"/>
                </a:solidFill>
              </a:rPr>
              <a:t>()  —  </a:t>
            </a:r>
            <a:r>
              <a:rPr sz="1400" b="1" dirty="0" err="1">
                <a:solidFill>
                  <a:schemeClr val="bg1"/>
                </a:solidFill>
              </a:rPr>
              <a:t>ProgressServic</a:t>
            </a:r>
            <a:r>
              <a:rPr lang="fr-CH" sz="1400" b="1" dirty="0">
                <a:solidFill>
                  <a:schemeClr val="bg1"/>
                </a:solidFill>
              </a:rPr>
              <a:t>e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0" y="4279392"/>
            <a:ext cx="557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5+ operations: find/create progress, write status, 2 COUNT queries, update series status. Most critical</a:t>
            </a:r>
            <a:r>
              <a:rPr lang="fr-CH" sz="1400" b="0" dirty="0">
                <a:solidFill>
                  <a:schemeClr val="bg1"/>
                </a:solidFill>
              </a:rPr>
              <a:t>, </a:t>
            </a:r>
            <a:r>
              <a:rPr sz="1400" b="0" dirty="0">
                <a:solidFill>
                  <a:schemeClr val="bg1"/>
                </a:solidFill>
              </a:rPr>
              <a:t>partial write = corrupted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5029200" cy="201168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</a:rPr>
              <a:t>Not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❌  login() — simple SELECT, no write, no lazy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109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❌  findAll() / findByTitle() — pure SELECT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5838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❌  </a:t>
            </a:r>
            <a:r>
              <a:rPr sz="1400" b="0" dirty="0" err="1">
                <a:solidFill>
                  <a:schemeClr val="bg1"/>
                </a:solidFill>
              </a:rPr>
              <a:t>computeSeriesStatus</a:t>
            </a:r>
            <a:r>
              <a:rPr sz="1400" b="0" dirty="0">
                <a:solidFill>
                  <a:schemeClr val="bg1"/>
                </a:solidFill>
              </a:rPr>
              <a:t>() — 2 COUNT queries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89B4FA"/>
                </a:solidFill>
              </a:rPr>
              <a:t>Security — </a:t>
            </a:r>
            <a:r>
              <a:rPr sz="3200" b="1" dirty="0" err="1">
                <a:solidFill>
                  <a:srgbClr val="89B4FA"/>
                </a:solidFill>
              </a:rPr>
              <a:t>Logi</a:t>
            </a:r>
            <a:r>
              <a:rPr lang="fr-CH" sz="3200" b="1" dirty="0">
                <a:solidFill>
                  <a:srgbClr val="89B4FA"/>
                </a:solidFill>
              </a:rPr>
              <a:t>n</a:t>
            </a:r>
            <a:endParaRPr sz="3200" b="1" dirty="0">
              <a:solidFill>
                <a:srgbClr val="89B4F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EA3C0"/>
                </a:solidFill>
              </a:rPr>
              <a:t>What is protected</a:t>
            </a:r>
            <a:r>
              <a:rPr lang="fr-CH" sz="1400" b="0" dirty="0">
                <a:solidFill>
                  <a:srgbClr val="9EA3C0"/>
                </a:solidFill>
              </a:rPr>
              <a:t> ?</a:t>
            </a:r>
            <a:endParaRPr sz="1400" b="0" dirty="0">
              <a:solidFill>
                <a:srgbClr val="9EA3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59" y="1143000"/>
            <a:ext cx="11457305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76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A6E3A1"/>
                </a:solidFill>
              </a:rPr>
              <a:t>Implemented</a:t>
            </a:r>
            <a:endParaRPr sz="1500" b="1" dirty="0">
              <a:solidFill>
                <a:srgbClr val="A6E3A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D6F4"/>
                </a:solidFill>
              </a:rPr>
              <a:t>Role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20"/>
            <a:ext cx="65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9EA3C0"/>
                </a:solidFill>
              </a:rPr>
              <a:t>instanceof</a:t>
            </a:r>
            <a:r>
              <a:rPr sz="1400" b="0" dirty="0">
                <a:solidFill>
                  <a:srgbClr val="9EA3C0"/>
                </a:solidFill>
              </a:rPr>
              <a:t> check distinguishes Viewer from Administrator.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6583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89B4FA"/>
                </a:solidFill>
              </a:rPr>
              <a:t>isViewer</a:t>
            </a:r>
            <a:r>
              <a:rPr sz="1400" b="0" dirty="0">
                <a:solidFill>
                  <a:srgbClr val="89B4FA"/>
                </a:solidFill>
              </a:rPr>
              <a:t>() → </a:t>
            </a:r>
            <a:r>
              <a:rPr sz="1400" b="0" dirty="0" err="1">
                <a:solidFill>
                  <a:srgbClr val="89B4FA"/>
                </a:solidFill>
              </a:rPr>
              <a:t>loggedAccount</a:t>
            </a:r>
            <a:r>
              <a:rPr sz="1400" b="0" dirty="0">
                <a:solidFill>
                  <a:srgbClr val="89B4FA"/>
                </a:solidFill>
              </a:rPr>
              <a:t> </a:t>
            </a:r>
            <a:r>
              <a:rPr sz="1400" b="0" dirty="0" err="1">
                <a:solidFill>
                  <a:srgbClr val="89B4FA"/>
                </a:solidFill>
              </a:rPr>
              <a:t>instanceof</a:t>
            </a:r>
            <a:r>
              <a:rPr sz="1400" b="0" dirty="0">
                <a:solidFill>
                  <a:srgbClr val="89B4FA"/>
                </a:solidFill>
              </a:rPr>
              <a:t> Viewer
</a:t>
            </a:r>
            <a:r>
              <a:rPr sz="1400" b="0" dirty="0" err="1">
                <a:solidFill>
                  <a:srgbClr val="89B4FA"/>
                </a:solidFill>
              </a:rPr>
              <a:t>isAdmin</a:t>
            </a:r>
            <a:r>
              <a:rPr sz="1400" b="0" dirty="0">
                <a:solidFill>
                  <a:srgbClr val="89B4FA"/>
                </a:solidFill>
              </a:rPr>
              <a:t>()  → </a:t>
            </a:r>
            <a:r>
              <a:rPr sz="1400" b="0" dirty="0" err="1">
                <a:solidFill>
                  <a:srgbClr val="89B4FA"/>
                </a:solidFill>
              </a:rPr>
              <a:t>loggedAccount</a:t>
            </a:r>
            <a:r>
              <a:rPr sz="1400" b="0" dirty="0">
                <a:solidFill>
                  <a:srgbClr val="89B4FA"/>
                </a:solidFill>
              </a:rPr>
              <a:t> </a:t>
            </a:r>
            <a:r>
              <a:rPr sz="1400" b="0" dirty="0" err="1">
                <a:solidFill>
                  <a:srgbClr val="89B4FA"/>
                </a:solidFill>
              </a:rPr>
              <a:t>instanceof</a:t>
            </a:r>
            <a:r>
              <a:rPr sz="1400" b="0" dirty="0">
                <a:solidFill>
                  <a:srgbClr val="89B4FA"/>
                </a:solidFill>
              </a:rPr>
              <a:t> 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199"/>
            <a:ext cx="65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DD6F4"/>
                </a:solidFill>
              </a:rPr>
              <a:t>Page Access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65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9EA3C0"/>
                </a:solidFill>
              </a:rPr>
              <a:t>requireLogin</a:t>
            </a:r>
            <a:r>
              <a:rPr sz="1400" b="0" dirty="0">
                <a:solidFill>
                  <a:srgbClr val="9EA3C0"/>
                </a:solidFill>
              </a:rPr>
              <a:t>() in </a:t>
            </a:r>
            <a:r>
              <a:rPr sz="1400" b="0" dirty="0" err="1">
                <a:solidFill>
                  <a:srgbClr val="9EA3C0"/>
                </a:solidFill>
              </a:rPr>
              <a:t>AccountBean</a:t>
            </a:r>
            <a:r>
              <a:rPr sz="1400" b="0" dirty="0">
                <a:solidFill>
                  <a:srgbClr val="9EA3C0"/>
                </a:solidFill>
              </a:rPr>
              <a:t> redirects unauthenticated users to login page.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9B4FA"/>
                </a:solidFill>
              </a:rPr>
              <a:t>if (!accountService.isLoggedIn()) redirect("login.xhtml");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40"/>
            <a:ext cx="65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DD6F4"/>
                </a:solidFill>
              </a:rPr>
              <a:t>Unique Username Constraint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6865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EA3C0"/>
                </a:solidFill>
              </a:rPr>
              <a:t>@Column(unique=true) + SELECT check before register. Enforced at both DB and app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AI Usage in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EA3C0"/>
                </a:solidFill>
              </a:rPr>
              <a:t>How and where </a:t>
            </a:r>
            <a:r>
              <a:rPr lang="fr-CH" sz="1400" b="0" dirty="0" err="1">
                <a:solidFill>
                  <a:srgbClr val="9EA3C0"/>
                </a:solidFill>
              </a:rPr>
              <a:t>artificial</a:t>
            </a:r>
            <a:r>
              <a:rPr lang="fr-CH" sz="1400" b="0" dirty="0">
                <a:solidFill>
                  <a:srgbClr val="9EA3C0"/>
                </a:solidFill>
              </a:rPr>
              <a:t> intelligence </a:t>
            </a:r>
            <a:r>
              <a:rPr sz="1400" b="0" dirty="0">
                <a:solidFill>
                  <a:srgbClr val="9EA3C0"/>
                </a:solidFill>
              </a:rPr>
              <a:t>assisted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78149"/>
            <a:ext cx="11430000" cy="141732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69589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89B4FA"/>
                </a:solidFill>
              </a:rPr>
              <a:t>UI Generation with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35349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DD6F4"/>
                </a:solidFill>
              </a:rPr>
              <a:t>Used AI to rapidly generate JSF/</a:t>
            </a:r>
            <a:r>
              <a:rPr sz="1400" b="0" dirty="0" err="1">
                <a:solidFill>
                  <a:srgbClr val="CDD6F4"/>
                </a:solidFill>
              </a:rPr>
              <a:t>Facelets</a:t>
            </a:r>
            <a:r>
              <a:rPr sz="1400" b="0" dirty="0">
                <a:solidFill>
                  <a:srgbClr val="CDD6F4"/>
                </a:solidFill>
              </a:rPr>
              <a:t> pages with Bootstrap styling. Instead of writing repetitive HTML structure manually, AI produced clean responsive layouts instantly</a:t>
            </a:r>
            <a:r>
              <a:rPr lang="fr-CH" sz="1400" b="0" dirty="0">
                <a:solidFill>
                  <a:srgbClr val="CDD6F4"/>
                </a:solidFill>
              </a:rPr>
              <a:t>, </a:t>
            </a:r>
            <a:r>
              <a:rPr sz="1400" b="0" dirty="0">
                <a:solidFill>
                  <a:srgbClr val="CDD6F4"/>
                </a:solidFill>
              </a:rPr>
              <a:t>saving significant time while keeping the UI professional.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89020"/>
            <a:ext cx="11430000" cy="141732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68046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89B4FA"/>
                </a:solidFill>
              </a:rPr>
              <a:t>Code Verification &amp;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4622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DD6F4"/>
                </a:solidFill>
              </a:rPr>
              <a:t>Used AI to audit CDI scope choices (@RequestScoped, @SessionScoped, @ApplicationScoped) and @Transactional usage across all service classes. AI confirmed which decisions were correct and flagged unnecessary or missing annotations with explanations.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Task Split in the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EA3C0"/>
                </a:solidFill>
              </a:rPr>
              <a:t>How work was distributed between team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56616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Clément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56616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Théo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3566160" cy="5120640"/>
          </a:xfrm>
          <a:prstGeom prst="rect">
            <a:avLst/>
          </a:prstGeom>
          <a:solidFill>
            <a:srgbClr val="313244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188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9E2AF"/>
                </a:solidFill>
              </a:rPr>
              <a:t>Both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82988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CDD6F4"/>
                </a:solidFill>
              </a:rPr>
              <a:t>Testing and debugging</a:t>
            </a:r>
            <a:endParaRPr lang="fr-CH" sz="1400" b="0" dirty="0">
              <a:solidFill>
                <a:srgbClr val="CDD6F4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400" b="0" dirty="0">
                <a:solidFill>
                  <a:srgbClr val="CDD6F4"/>
                </a:solidFill>
              </a:rPr>
              <a:t>PowerPoint </a:t>
            </a:r>
            <a:r>
              <a:rPr lang="fr-CH" sz="1400" b="0" dirty="0" err="1">
                <a:solidFill>
                  <a:srgbClr val="CDD6F4"/>
                </a:solidFill>
              </a:rPr>
              <a:t>presentation</a:t>
            </a:r>
            <a:endParaRPr lang="fr-CH" sz="1400" b="0" dirty="0">
              <a:solidFill>
                <a:srgbClr val="CDD6F4"/>
              </a:solidFill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F23F7BB-98BB-49E4-802D-DE69D28CE71D}"/>
              </a:ext>
            </a:extLst>
          </p:cNvPr>
          <p:cNvSpPr txBox="1"/>
          <p:nvPr/>
        </p:nvSpPr>
        <p:spPr>
          <a:xfrm>
            <a:off x="4480560" y="1572768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CH" sz="1400" b="0" dirty="0">
                <a:solidFill>
                  <a:srgbClr val="CDD6F4"/>
                </a:solidFill>
              </a:rPr>
              <a:t>?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AF15F89D-5C65-4687-BD0B-EBA9207C6E44}"/>
              </a:ext>
            </a:extLst>
          </p:cNvPr>
          <p:cNvSpPr txBox="1"/>
          <p:nvPr/>
        </p:nvSpPr>
        <p:spPr>
          <a:xfrm>
            <a:off x="548640" y="1552795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CH" sz="1400" b="0" dirty="0">
                <a:solidFill>
                  <a:srgbClr val="CDD6F4"/>
                </a:solidFill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679</Words>
  <Application>Microsoft Office PowerPoint</Application>
  <PresentationFormat>Personnalisé</PresentationFormat>
  <Paragraphs>86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Mayoraz Théo</cp:lastModifiedBy>
  <cp:revision>9</cp:revision>
  <dcterms:created xsi:type="dcterms:W3CDTF">2013-01-27T09:14:16Z</dcterms:created>
  <dcterms:modified xsi:type="dcterms:W3CDTF">2026-06-05T11:58:35Z</dcterms:modified>
  <cp:category/>
</cp:coreProperties>
</file>